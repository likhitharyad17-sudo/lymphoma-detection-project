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6028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Respected evaluators, we present our Major Project titled 'Attention Augmented Residual Deep Learning Framework for Lymphoma Detection'. This presentation details the end-to-end implementation, technology stack, database design, user interface, trained PyTorch model, two-stage screening logic, and empirical evaluation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establishes the medical context. We focus strictly on the 3 malignant lymphoma categories: CLL, FL, and MCL. Our system combines ResNet-50 with CBAM attention and introduces a two-stage screening guard to prevent blind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summarizes our core problem statement and 5 implemented objectives. We specifically address the clinical problem of lymphoma classification while solving the software flaw of blind CNN argmax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directly satisfies the Phase 4 requirement on Tools &amp; Technologies. Every technology listed is actively used in the repository: PyTorch for neural networks, OpenCV for stain analysis, FastAPI and SQLite for backend, React and Tailwind for frontend, and Gemini API for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outlines the 4 technical pillars: Image Preprocessing &amp; Stain Gating, Residual Learning, CBAM Attention Augmentation, and Two-Stage Rejection with Grad-CAM++ Explainability.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details our dataset. We use 374 high-resolution TIFF images across CLL (113), FL (139), and MCL (122), split into 70% train (261), 15% validation (56), and an untouched 15% test set (57). Zero leukemia classes are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explains our preprocessing and stain-aware augmentations. We resize to 224x224, apply color jittering to handle laboratory staining differences, and normalize tensors for stable gradient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 details our residual learning backbone. We utilize ResNet-50 bottleneck residual blocks with shortcut identity mappings, processing slides across 4 stages up to a 2048-dimensional feature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 represents our primary research contribution: CBAM attention integration. CAM calculates channel importance using GAP and GMP with reduction ratio 16, while SAM computes spatial importance using 7x7 convolution to focus on malignant nuclei.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presents our exact training protocol. The model was trained on an NVIDIA GeForce RTX 4050 GPU using PyTorch, AdamW optimizer, Cosine Annealing learning rate schedule, and Label-smoothed Cross-Entropy over 25 epochs.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reviews our training dynamics. Training loss dropped from 1.09 to 0.18, with validation accuracy peaking at 87.5% and stabilizing at 85.96% on the untouched test split, proving model stability without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14 presents our comprehensive benchmark across 8 models evaluated on the untouched N=57 test split. Our proposed model achieved 85.96% accuracy, outperforming DenseNet, EfficientNet, and baseline ResNet-50, with ablation confirming a +7.01% gain from CBAM.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15 breaks down our confusion matrix on N=57 test samples. CLL achieved 94.1% sensitivity, FL achieved 85.7%, and MCL achieved 78.9%. Most errors occur between atypical MCL and FL centrocytes due to shared cleaved nuclear morphologies.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16 demonstrates our solution to the non-histology image problem. Our 3-tier gating checks H&amp;E stain chromaticity and microscopic gradient edge density. 374 of 374 real slides pass, while all non-slide photos like ice cream or cars are 100%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17 illustrates a positive diagnosis. When confidence exceeds the 80% threshold, the UI displays 'Lymphoma Detected', the subtype, full 3-class probabilities, and a Grad-CAM++ heatmap explaining the region attribution.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18 details Outcomes 2 and 3. Outcome 2 triggers when a slide is below 80% confidence, outputting 'No Lymphoma Detected'. Outcome 3 triggers on non-histological images, outputting 'Unable to Analyze Image'. We maintain strict medical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19 directly demonstrates our UI development for Phase 4. We built a clean clinical single-page application with Diagnostic Studio, Performance Dashboard, History with Privacy Controls, and Gemini AI Chatbot.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20 explains our Role-Based Access Control. Standard users can analyze slides, view community results, toggle privacy on their own tests, and delete their own records. Admins have full oversight, can hide/unhide results without deleting, and configure system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21 directly addresses the Phase 4 Database Design requirement. We implement a relational SQLite schema via SQLAlchemy with 3 core tables: users for authentication, prediction_records for inference logs and privacy flags, and feedback_records for clinical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22 demonstrates that our project is a fully integrated end-to-end software system. A slide moves seamlessly from React client, FastAPI validation, PyTorch GPU inference, Grad-CAM++ generation, SQLite persistence, to reactive UI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23 serves as our live demonstration protocol. We demonstrate positive classification with Grad-CAM++, input rejection on non-histological images like ice cream, sub-threshold rejection, and role-based privacy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24 summarizes our quantitative results: 85.96% test accuracy, 0.8568 Macro F1, 0.9401 ROC-AUC, 100% slide gating specificity, and 85ms inference latency on our RTX 4050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25 provides a 15-point verification checklist. Every component from dataset curation, PyTorch training, CBAM attention, slide gating, FastAPI backend, SQLite database, React frontend, to Gemini AI chat is 100%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we have built a complete, robust, and clinically safe deep learning system for lymphoma detection. Our results are aligned for IEEE publication, and future work includes Whole Slide Imaging and multi-center clinical trials. Thank you. We welcome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Attention Augmented Residual Deep Learning Framework for Lymphoma Detection</a:t>
            </a:r>
          </a:p>
          <a:p>
            <a:pPr>
              <a:spcBef>
                <a:spcPts val="800"/>
              </a:spcBef>
              <a:defRPr sz="1400">
                <a:solidFill>
                  <a:srgbClr val="0284C7"/>
                </a:solidFill>
              </a:defRPr>
            </a:pPr>
            <a:r>
              <a:t>A Clinically Safe, Explainable AI Framework for 3-Class Malignant Lymphoma Classification &amp; Gated Screening</a:t>
            </a:r>
          </a:p>
          <a:p>
            <a:pPr>
              <a:spcBef>
                <a:spcPts val="1200"/>
              </a:spcBef>
              <a:defRPr sz="1100" b="1">
                <a:solidFill>
                  <a:srgbClr val="94A3B8"/>
                </a:solidFill>
              </a:defRPr>
            </a:pPr>
            <a:r>
              <a:t>MAJOR PROJECT EVALUATION • PHASE 4 TECHNICAL DEMONSTRATION • 03/09/2026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474720"/>
            <a:ext cx="10332720" cy="22860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61188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DEPARTMENT OF INFORMATION SCIENCE AND ENGINEERING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MALNAD COLLEGE OF ENGINEERING, HASSAN — 573202 (Autonomous Institute Affiliated to VTU, Belagavi)</a:t>
            </a:r>
          </a:p>
          <a:p>
            <a:pPr>
              <a:spcBef>
                <a:spcPts val="1400"/>
              </a:spcBef>
              <a:defRPr sz="1200" b="1">
                <a:solidFill>
                  <a:srgbClr val="0284C7"/>
                </a:solidFill>
              </a:defRPr>
            </a:pPr>
            <a:r>
              <a:t>Project Team:  Bhuvanesh A U  |  Likith Arya D  |  Monisha K P  |  Manthan Nayak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</a:defRPr>
            </a:pPr>
            <a:r>
              <a:t>Degree: Bachelor of Engineering (B.E.) in Information Science &amp; Engineering  |  Academic Year: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/>
              <a:t>Project Overview &amp; Clinical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306324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Clinical Problem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Malignant Lymphoma is among the most prevalent hematological malignancies worldwide.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Accurate classification of 3 major subtypes (CLL, FL, MCL) requires extensive manual histopathological microscopic examination.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Manual microscopy is labor-intensive, subject to high inter-pathologist variability, and prone to diagnostic fatigue.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Subtle cellular morphology differences between small round lymphocytes and cleaved centrocytes challenge manual observation.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4553712" y="1645920"/>
            <a:ext cx="3063240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Attention-Augmented AI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Deep Residual Network (ResNet-50) backbone extracts high-dimensional morphological feature hierarchies.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Convolutional Block Attention Module (CBAM) sequentially injects Channel and Spatial Attention at Stages 3 &amp; 4.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Channel Attention (CAM) isolates 'what' morphological features are diagnostically critical.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Spatial Attention (SAM) pinpoints 'where' malignant cellular structures are located on the slide.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8238744" y="1645920"/>
            <a:ext cx="3063240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3. Two-Stage Decision Guard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Avoids Blind Softmax Argmax: Standard CNNs force a cancer prediction even on random non-cancer images.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Outcome 1: Lymphoma Detected with specific subtype (CLL / FL / MCL) and Grad-CAM++ explanation.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Outcome 2: No Lymphoma Detected (sub-threshold confidence rejection at tau = 0.80).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Outcome 3: Unable to Analyze Image (multi-tier slide gating rejecting non-histological images).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/>
              <a:t>Problem Statement &amp; Implemented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1033272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rPr sz="1600"/>
              <a:t>PROBLEM STATEMENT</a:t>
            </a:r>
          </a:p>
          <a:p>
            <a:pPr>
              <a:spcBef>
                <a:spcPts val="6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Malignant lymphomas exhibit close morphological similarities under optical microscopy, leading to diagnostic delays and observer discordance. Existing standard CNN-based computer-aided diagnostic systems suffer from two major flaws: (1) They lack attention mechanisms to distinguish malignant nuclear chromatin from background stromal tissue, and (2) They apply simple uncalibrated argmax classification, blindly forcing an arbitrary cancer subtype prediction on out-of-distribution, corrupted, or non-histological images.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8655" cy="2468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0332720" cy="188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rPr sz="1600"/>
              <a:t>IMPLEMENTED CORE OBJECTIVES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Develop an attention-augmented residual deep learning model (ResNet-50 + CBAM) for accurate 3-class lymphoma classification (CLL, FL, MCL).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Implement a multi-tier histopathology quality &amp; stain gating engine to reject non-histological inputs automatically.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Implement a two-stage calibrated screening guard (tau = 0.80) to reject sub-threshold slides without forcing cancer classification.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Provide explainable diagnostic heatmaps using Grad-CAM++ highlighting salient morphological regions.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</a:defRPr>
            </a:pPr>
            <a:r>
              <a:rPr sz="1400"/>
              <a:t>• Engineer a secure full-stack software prototype with role-based access control (RBAC), relational database, and PDF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3200" dirty="0"/>
              <a:t>Tools &amp; Technologies Used across Full Stack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2295144" cy="142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/>
              <a:t>Programming Languages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Python 3.13.7 • JavaScript (ES6+)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Core deep learning algorithms, backend API endpoints, and interactive frontend UI components.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3575304" y="1572768"/>
            <a:ext cx="2295144" cy="1844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rPr sz="1600"/>
              <a:t>Deep Learning Framework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PyTorch 2.6.0 • Torchvision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Constructed AttentionResNet50_CBAM, GPU tensor computations, custom loss functions, and inference.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309360" y="1572768"/>
            <a:ext cx="2295144" cy="1674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rPr sz="1600"/>
              <a:t>Computer Vision &amp; Images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OpenCV (cv2) • Pillow • NumPy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H&amp;E stain chromaticity analysis, Sobel gradient edge filtering, and bilinear tensor resizing.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9043416" y="1572768"/>
            <a:ext cx="2295144" cy="142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rPr sz="1600"/>
              <a:t>Backend Framework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FastAPI • Starlette • Uvicorn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High-performance asynchronous RESTful API with automated OpenAPI docs and multipart slide streaming.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841248" y="4041648"/>
            <a:ext cx="2295144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rPr sz="1600"/>
              <a:t>Database &amp; ORM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SQLite3 • SQLAlchemy 2.0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Structured relational persistence for user accounts, case audit logs, privacy flags, and pathologist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393192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3575304" y="4041648"/>
            <a:ext cx="2295144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rPr sz="1600"/>
              <a:t>Authentication &amp; Security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PyJWT • Native Bcrypt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Role-Based Access Control (RBAC), secure password hashing with 72-byte safe truncation, and bearer tokens.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93192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6309360" y="4041648"/>
            <a:ext cx="2295144" cy="1428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/>
              <a:t>Frontend &amp; UI Design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React 18 • Vite 6 • Tailwind CSS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Responsive clinical single-page application (SPA), interactive Recharts graphs, and Lucide icons.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393192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9043416" y="4041648"/>
            <a:ext cx="2295144" cy="1597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rPr sz="1600"/>
              <a:t>Explainability &amp; AI Chat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Grad-CAM++ • Gemini 1.5 Flash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High-order gradient heatmaps on CBAM layer; real-time interactive pathology assistant with offline fallback.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 dirty="0"/>
              <a:t>Techniques &amp; Methodological Framework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39"/>
            <a:ext cx="10728655" cy="55361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32587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2240280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rPr sz="1600"/>
              <a:t>1. Image Preprocessing &amp; Gating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H&amp;E Stain Gamut Analysis in HSV space.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Green Absorption Ratio verification.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Sobel Gradient Edge Density checking.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Z-Score channel normalization.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14600" cy="32587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3602736" y="1645920"/>
            <a:ext cx="2240280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369A1"/>
                </a:solidFill>
              </a:defRPr>
            </a:pPr>
            <a:r>
              <a:rPr sz="1600"/>
              <a:t>2. Residual Feature Extraction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ResNet-50 50-layer deep backbone.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Bottleneck 1x1, 3x3, 1x1 convolutions.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Identity shortcut connections.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Eliminates vanishing gradient degradation.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14600" cy="32587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336792" y="1645920"/>
            <a:ext cx="2240280" cy="2390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rPr sz="1600"/>
              <a:t>3. Attention Augmentation (CBAM)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Channel Attention (CAM) via GAP+GMP.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Spatial Attention (SAM) via 7x7 conv.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Integrated after Stages 3 and 4.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Dual pooling (GAP+GMP) representation.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14600" cy="32587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9070848" y="1645920"/>
            <a:ext cx="2240280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rPr sz="1600"/>
              <a:t>4. Screening &amp; Explainability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Two-Stage Gated Rejection (tau = 0.80).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Out-of-Distribution feature gating.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Grad-CAM++ saliency thermal overlays.</a:t>
            </a:r>
          </a:p>
          <a:p>
            <a:pPr>
              <a:spcBef>
                <a:spcPts val="10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Automated ReportLab PDF summaries.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3200"/>
              <a:t>Dataset Specifications: Malignant Lymphoma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7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/>
              <a:t>Dataset Characteristics &amp; Partitions</a:t>
            </a:r>
          </a:p>
          <a:p>
            <a:pPr>
              <a:spcBef>
                <a:spcPts val="600"/>
              </a:spcBef>
              <a:defRPr sz="1050" b="1">
                <a:solidFill>
                  <a:srgbClr val="0369A1"/>
                </a:solidFill>
              </a:defRPr>
            </a:pPr>
            <a:r>
              <a:rPr sz="1400"/>
              <a:t>• Dataset Name: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Malignant Lymphoma Classification Dataset</a:t>
            </a:r>
          </a:p>
          <a:p>
            <a:pPr>
              <a:spcBef>
                <a:spcPts val="600"/>
              </a:spcBef>
              <a:defRPr sz="1050" b="1">
                <a:solidFill>
                  <a:srgbClr val="0369A1"/>
                </a:solidFill>
              </a:defRPr>
            </a:pPr>
            <a:r>
              <a:rPr sz="1400"/>
              <a:t>• Modality: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Optical Microscopic Histopathology Biopsy Slides (H&amp;E)</a:t>
            </a:r>
          </a:p>
          <a:p>
            <a:pPr>
              <a:spcBef>
                <a:spcPts val="600"/>
              </a:spcBef>
              <a:defRPr sz="1050" b="1">
                <a:solidFill>
                  <a:srgbClr val="0369A1"/>
                </a:solidFill>
              </a:defRPr>
            </a:pPr>
            <a:r>
              <a:rPr sz="1400"/>
              <a:t>• Original Resolution: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1388 x 1040 pixels (TIFF format, RGB)</a:t>
            </a:r>
          </a:p>
          <a:p>
            <a:pPr>
              <a:spcBef>
                <a:spcPts val="600"/>
              </a:spcBef>
              <a:defRPr sz="1050" b="1">
                <a:solidFill>
                  <a:srgbClr val="0369A1"/>
                </a:solidFill>
              </a:defRPr>
            </a:pPr>
            <a:r>
              <a:rPr sz="1400"/>
              <a:t>• Total Slide Images: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374 high-resolution biopsy specimens</a:t>
            </a:r>
          </a:p>
          <a:p>
            <a:pPr>
              <a:spcBef>
                <a:spcPts val="600"/>
              </a:spcBef>
              <a:defRPr sz="1050" b="1">
                <a:solidFill>
                  <a:srgbClr val="0369A1"/>
                </a:solidFill>
              </a:defRPr>
            </a:pPr>
            <a:r>
              <a:rPr sz="1400"/>
              <a:t>• Target Classes: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3 Classes: CLL, FL, MCL</a:t>
            </a:r>
          </a:p>
          <a:p>
            <a:pPr>
              <a:spcBef>
                <a:spcPts val="600"/>
              </a:spcBef>
              <a:defRPr sz="1050" b="1">
                <a:solidFill>
                  <a:srgbClr val="0369A1"/>
                </a:solidFill>
              </a:defRPr>
            </a:pPr>
            <a:r>
              <a:rPr sz="1400"/>
              <a:t>• Data Partitioning: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70% Train (261) | 15% Val (56) | 15% Test (57)</a:t>
            </a:r>
          </a:p>
          <a:p>
            <a:pPr>
              <a:spcBef>
                <a:spcPts val="600"/>
              </a:spcBef>
              <a:defRPr sz="1050" b="1">
                <a:solidFill>
                  <a:srgbClr val="0369A1"/>
                </a:solidFill>
              </a:defRPr>
            </a:pPr>
            <a:r>
              <a:rPr sz="1400"/>
              <a:t>• Data Leakage Prevention: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Stratified partition ensuring zero patient/slide overlap across splits.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355080" y="1554480"/>
            <a:ext cx="4937760" cy="1159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/>
              <a:t>CLL — Chronic Lymphocytic Leukemia / Small Lymphocytic Lymphoma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rPr sz="1200"/>
              <a:t>Distribution: 113 Slides (30.2%)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rPr sz="1100"/>
              <a:t>Diffuse effacement by small, mature monotonous round lymphocytes with heavily clumped 'soccer-ball' chromatin and scant cytoplasm.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072384"/>
            <a:ext cx="52422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355080" y="3163824"/>
            <a:ext cx="493776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rPr sz="1600"/>
              <a:t>FL — Follicular Lymphoma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rPr sz="1200"/>
              <a:t>Distribution: 139 Slides (37.2%)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rPr sz="1100"/>
              <a:t>Nodular neoplastic follicles lacking mantle zones, composed of cleaved centrocytes and larger centroblasts with t(14;18) BCL2 overexpression.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81728"/>
            <a:ext cx="52422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6355080" y="4773168"/>
            <a:ext cx="4937760" cy="91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rPr sz="1600"/>
              <a:t>MCL — Mantle Cell Lymphoma</a:t>
            </a:r>
          </a:p>
          <a:p>
            <a:pPr>
              <a:spcBef>
                <a:spcPts val="200"/>
              </a:spcBef>
              <a:defRPr sz="1000" b="1">
                <a:solidFill>
                  <a:srgbClr val="0F172A"/>
                </a:solidFill>
              </a:defRPr>
            </a:pPr>
            <a:r>
              <a:rPr sz="1200"/>
              <a:t>Distribution: 122 Slides (32.6%)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rPr sz="1100"/>
              <a:t>Monotonous expansion of mantle zones by small-to-medium lymphocytes with irregular, indented nuclei and t(11;14) Cyclin D1 overexpression.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/>
              <a:t>Image Preprocessing &amp; Stain-Aware Augmentation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41248" y="1600200"/>
            <a:ext cx="2295144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rPr sz="1600"/>
              <a:t>Step 1: Input Gating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100"/>
              <a:t>Validates image size (&gt;=64x64), contrast std (&gt;=8.0), H&amp;E stain chromaticity (&gt;=70%), and edge density (&gt;=35%).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3575304" y="1600200"/>
            <a:ext cx="2295144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rPr sz="1600"/>
              <a:t>Step 2: Resizing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100"/>
              <a:t>High-quality bilinear interpolation downsampling 1388x1040 TIFF slides to standard 224x224x3 tensors.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2295144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rPr sz="1600"/>
              <a:t>Step 3: Augmentation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100"/>
              <a:t>Stain Color Jitter (brightness/contrast/saturation +/-15%, hue +/-5%), Random Flips (p=0.5), Random 90-deg rotations.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146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9043416" y="1600200"/>
            <a:ext cx="2295144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rPr sz="1600"/>
              <a:t>Step 4: Normalization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100"/>
              <a:t>Z-Score normalization using standard ImageNet mean [0.485, 0.456, 0.406] and std [0.229, 0.224, 0.225].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10728655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33272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600"/>
              <a:t>Why Stain-Aware Augmentation is Essential in Digital Pathology: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Pathology slides from different laboratories exhibit substantial staining color variations due to reagents, slide age, and scanner calibration.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Color Jittering (+/-15%) forces the residual network to learn nuclear chromatin geometry rather than memorizing batch-specific purple hues.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• Geometric rotations and reflections simulate arbitrary slide orientation under the microscope eyepiece without altering pathological meaning.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3200"/>
              <a:t>Residual Learning Framework: ResNet-50 Deep Backbone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/>
              <a:t>Mathematical Residual Formulation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600"/>
              <a:t>• Identity Mapping: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y = F(x, {W_i}) + x, where F is the residual mapping to be learned.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600"/>
              <a:t>• Bottleneck Architecture: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Utilizes 1x1 conv (channel reduction), 3x3 conv (spatial feature extraction), and 1x1 conv (channel expansion).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600"/>
              <a:t>• Vanishing Gradient Solution: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Shortcut connections allow gradients to backpropagate directly through deep layers without exponential attenuation.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600"/>
              <a:t>• Feature Depth: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50 convolutional layers extract multi-scale histological patterns from low-level edges to complex lymphoid architectural patterns.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263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/>
              <a:t>Layer Hierarchy &amp; Channel Dimensions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rPr sz="1400"/>
              <a:t>• Stem Layer: 7x7 Conv, 64 filters, stride 2 + 3x3 MaxPool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Dimensions: Output: 56x56 x 64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rPr sz="1400"/>
              <a:t>• Stage 1 (layer1): 3 Bottleneck blocks (64-64-256)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Dimensions: Output: 56x56 x 256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rPr sz="1400"/>
              <a:t>• Stage 2 (layer2): 4 Bottleneck blocks (128-128-512)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Dimensions: Output: 28x28 x 512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rPr sz="1400"/>
              <a:t>• Stage 3 (layer3): 6 Bottleneck blocks (256-256-1024) + CBAM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Dimensions: Output: 14x14 x 1024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rPr sz="1400"/>
              <a:t>• Stage 4 (layer4): 3 Bottleneck blocks (512-512-2048) + CBAM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Dimensions: Output: 7x7 x 2048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/>
              <a:t>Attention Mechanism: Convolutional Block Attention Module (CBAM)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3538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69A1"/>
                </a:solidFill>
              </a:defRPr>
            </a:pPr>
            <a:r>
              <a:rPr sz="1600" dirty="0"/>
              <a:t>1. Channel Attention Module (CAM)</a:t>
            </a:r>
          </a:p>
          <a:p>
            <a:pPr>
              <a:spcBef>
                <a:spcPts val="200"/>
              </a:spcBef>
              <a:defRPr sz="1050" b="1">
                <a:solidFill>
                  <a:srgbClr val="0284C7"/>
                </a:solidFill>
              </a:defRPr>
            </a:pPr>
            <a:r>
              <a:rPr sz="1600" dirty="0"/>
              <a:t>Identifies WHAT morphological features are meaningful.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• Spatial Feature Aggregation: Simultaneously applies Global Average Pooling (GAP) and Global Max Pooling (GMP).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• Shared Multi-Layer Perceptron: Passes pooled descriptors through shared MLP with reduction ratio r=16.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• Formula: </a:t>
            </a:r>
            <a:r>
              <a:rPr sz="1400" dirty="0" err="1"/>
              <a:t>M_c</a:t>
            </a:r>
            <a:r>
              <a:rPr sz="1400" dirty="0"/>
              <a:t>(F) = sigma( MLP(GAP(F)) + MLP(GMP(F)) 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• Feature Recalibration: F' = </a:t>
            </a:r>
            <a:r>
              <a:rPr sz="1400" dirty="0" err="1"/>
              <a:t>M_c</a:t>
            </a:r>
            <a:r>
              <a:rPr sz="1400" dirty="0"/>
              <a:t>(F) * F (Element-wise multiplication dynamically scales salient channel maps).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35387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277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rPr sz="1600" dirty="0"/>
              <a:t>2. Spatial Attention Module (SAM)</a:t>
            </a:r>
          </a:p>
          <a:p>
            <a:pPr>
              <a:spcBef>
                <a:spcPts val="200"/>
              </a:spcBef>
              <a:defRPr sz="1050" b="1">
                <a:solidFill>
                  <a:srgbClr val="059669"/>
                </a:solidFill>
              </a:defRPr>
            </a:pPr>
            <a:r>
              <a:rPr sz="1600" dirty="0"/>
              <a:t>Identifies WHERE diagnostic cellular lesions are located.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• Channel Feature Aggregation: Computes average-pool and max-pool along the channel axis of F'.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• Spatial Convolutions: Concatenates pooled maps and applies a 7x7 standard convolution.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• Formula: M_s(F') = sigma( conv_7x7( [</a:t>
            </a:r>
            <a:r>
              <a:rPr sz="1400" dirty="0" err="1"/>
              <a:t>GAP_c</a:t>
            </a:r>
            <a:r>
              <a:rPr sz="1400" dirty="0"/>
              <a:t>(F'); </a:t>
            </a:r>
            <a:r>
              <a:rPr sz="1400" dirty="0" err="1"/>
              <a:t>GMP_c</a:t>
            </a:r>
            <a:r>
              <a:rPr sz="1400" dirty="0"/>
              <a:t>(F')] ) 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rPr sz="1400" dirty="0"/>
              <a:t>• Final Refinement: F'' = M_s(F') * F' (Suppresses background stroma and highlights neoplastic nuclei).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3200"/>
              <a:t>Model Training Protocol &amp; Experimental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3118104" cy="95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rPr sz="1600"/>
              <a:t>Hardware Accelerator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NVIDIA GeForce RTX 4050 GPU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6 GB GDDR6 VRAM, CUDA 12.4, cuDNN accelerated tensor cores.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4526280" y="1572768"/>
            <a:ext cx="3118104" cy="95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600"/>
              <a:t>Optimization Algorithm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AdamW Optimizer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Initial LR = 1e-4, Weight Decay = 1e-4 for decoupled regularization.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463040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211312" y="1572768"/>
            <a:ext cx="3118104" cy="95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rPr sz="1600"/>
              <a:t>Learning Rate Schedule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CosineAnnealingLR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T_max = 25 epochs, eta_min = 1e-6 for smooth convergence.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TextBox 11"/>
          <p:cNvSpPr txBox="1"/>
          <p:nvPr/>
        </p:nvSpPr>
        <p:spPr>
          <a:xfrm>
            <a:off x="841248" y="4087368"/>
            <a:ext cx="3118104" cy="95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rPr sz="1600"/>
              <a:t>Loss Function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Cross-Entropy + Label Smoothing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Smooth factor epsilon = 0.05 to prevent overconfident boundary predictions.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6552" y="3977639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4" name="TextBox 13"/>
          <p:cNvSpPr txBox="1"/>
          <p:nvPr/>
        </p:nvSpPr>
        <p:spPr>
          <a:xfrm>
            <a:off x="4526280" y="4087368"/>
            <a:ext cx="3118104" cy="95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rPr sz="1600"/>
              <a:t>Batch Size &amp; Epochs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Batch Size: 16 | Epochs: 25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Calibrated for memory efficiency and robust gradient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3977639"/>
            <a:ext cx="333756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TextBox 15"/>
          <p:cNvSpPr txBox="1"/>
          <p:nvPr/>
        </p:nvSpPr>
        <p:spPr>
          <a:xfrm>
            <a:off x="8211312" y="4087368"/>
            <a:ext cx="3118104" cy="951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rPr sz="1600"/>
              <a:t>Dual Pooling Head</a:t>
            </a:r>
          </a:p>
          <a:p>
            <a:pPr>
              <a:spcBef>
                <a:spcPts val="300"/>
              </a:spcBef>
              <a:defRPr sz="1200" b="1">
                <a:solidFill>
                  <a:srgbClr val="0F172A"/>
                </a:solidFill>
              </a:defRPr>
            </a:pPr>
            <a:r>
              <a:t>GAP (2048) + GMP (2048)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rPr sz="1100"/>
              <a:t>Concatenated 4096-d vector -&gt; Linear(512) -&gt; Dropout(0.4) -&gt; Linear(3).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/>
              <a:t>Training &amp; Validation Convergence Dynamics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2898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Loss Convergence Analysis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400"/>
              <a:t>• Initial Epoch 1 Loss: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Train Loss: 1.094 | Val Loss: 1.052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400"/>
              <a:t>• Midway Epoch 12 Loss: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Train Loss: 0.428 | Val Loss: 0.514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400"/>
              <a:t>• Final Epoch 25 Loss: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Train Loss: 0.182 | Val Loss: 0.341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400"/>
              <a:t>• Convergence Behavior: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Loss dropped monotonically without sudden divergence spikes.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400"/>
              <a:t>• Regularization Impact: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Dropout (0.4) and Weight Decay (1e-4) maintained small generalization gap between train and validation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28982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Accuracy Trajectory Analysis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rPr sz="1400"/>
              <a:t>• Epoch 1 Validation Accuracy: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51.78% (Baseline cold start)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rPr sz="1400"/>
              <a:t>• Epoch 10 Validation Accuracy: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78.57% (Rapid feature extraction phase)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rPr sz="1400"/>
              <a:t>• Peak Validation Accuracy: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87.50% (Achieved at Epoch 21)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rPr sz="1400"/>
              <a:t>• Untouched Test Split Accuracy: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85.96% (N=57 independent evaluation)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rPr sz="1400"/>
              <a:t>• Overfitting Assessment: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Validation accuracy closely tracked training accuracy, confirming excellent generalizability across patients.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/>
              <a:t>Empirical Evaluation: 8-Model Benchmark &amp; Ablation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6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Architecture /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AttentionResNet50_CBAM (Proposed)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85.96%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0.8647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0.8596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0.8568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0.9401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ResNet-50 (Baseline)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78.95%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0.8012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0.7895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0.7867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0.8872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DenseNet-121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0.9015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EfficientNet-B0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77.19%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0.7802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0.7719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0.7684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0.8719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SimpleCNN (Custom 4-Layer)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61.40%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0.6210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0.6140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0.6092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0.7420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Ablation: ResNet50 + CAM Only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82.46%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0.8310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0.8246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0.8219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0.9140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F172A"/>
                          </a:solidFill>
                        </a:defRPr>
                      </a:pPr>
                      <a:r>
                        <a:t>Ablation: ResNet50 + SAM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80.70%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0.8035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F172A"/>
                          </a:solidFill>
                        </a:defRPr>
                      </a:pPr>
                      <a:r>
                        <a:t>0.9020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486400"/>
            <a:ext cx="10728655" cy="822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914400" y="5559552"/>
            <a:ext cx="10332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rPr sz="1400"/>
              <a:t>Key Empirical Takeaway: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The proposed AttentionResNet50_CBAM outperforms baseline ResNet-50 by +7.01% in accuracy and +0.0701 in Macro F1. Ablation experiments prove that Channel Attention contributes +3.51% and Spatial Attention contributes +1.75%, while combined CBAM achieves peak 85.96% accuracy and 0.9401 ROC-AUC.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3200"/>
              <a:t>Confusion Matrix &amp; Diagnostic Sensitivity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/>
              <a:t>Test Split Confusion Matrix (N = 57)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03120"/>
          <a:ext cx="4754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Actual / Pred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Pred CLL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Pred FL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Pred MCL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Actual CLL (17)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11D4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11D4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Actual FL (21)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11D48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11D4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Actual MCL (19)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11D4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E11D4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484632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/>
              <a:t>Per-Class Diagnostic Performance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rPr sz="1600"/>
              <a:t>• CLL (Small Lymphocytic)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sz="1200"/>
              <a:t>   Precision: 94.12% | Recall: 94.12% | F1: 0.9412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Monotonous small round lymphocytes with soccer-ball chromatin yield near-perfect discrimination with only 1 misclassification.</a:t>
            </a:r>
          </a:p>
          <a:p>
            <a:pPr>
              <a:spcBef>
                <a:spcPts val="800"/>
              </a:spcBef>
              <a:defRPr sz="1100" b="1">
                <a:solidFill>
                  <a:srgbClr val="059669"/>
                </a:solidFill>
              </a:defRPr>
            </a:pPr>
            <a:r>
              <a:rPr sz="1600"/>
              <a:t>• FL (Follicular Lymphoma)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sz="1200"/>
              <a:t>   Precision: 85.71% | Recall: 85.71% | F1: 0.8571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Nodular architectural follicles with cleaved centrocytes are reliably identified, with minor boundary confusion with MCL.</a:t>
            </a:r>
          </a:p>
          <a:p>
            <a:pPr>
              <a:spcBef>
                <a:spcPts val="800"/>
              </a:spcBef>
              <a:defRPr sz="1100" b="1">
                <a:solidFill>
                  <a:srgbClr val="D97706"/>
                </a:solidFill>
              </a:defRPr>
            </a:pPr>
            <a:r>
              <a:rPr sz="1600"/>
              <a:t>• MCL (Mantle Cell Lymphoma)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sz="1200"/>
              <a:t>   Precision: 78.95% | Recall: 78.95% | F1: 0.7895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Irregular cleaved nuclear contours show moderate overlap with atypical FL centrocyte variants.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3200"/>
              <a:t>Histopathology Specimen Gating &amp; Input Rejection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rPr sz="1600"/>
              <a:t>3-Tier Pre-Inference Quality Defense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• Tier 1: Integrity &amp; Dynamic Range: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Rejects corrupted, unreadable, pitch-black (&lt;5), pure white (&gt;250), or uniform blank slides (std &lt; 8.0).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• Tier 2: H&amp;E Stain Gamut Analysis: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Evaluates Hematoxylin &amp; Eosin spectrum in HSV space. Rejects images containing &gt;10% natural green/yellow daylight scenery or &lt;70% H&amp;E stain gamut.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/>
              <a:t>• Tier 3: Microscopic Edge Density: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Computes high-frequency Sobel gradient edge ratio. Rejects smooth macroscopic images (food, faces, cars, landscapes) having &lt;35% edge density.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3554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rPr sz="1600"/>
              <a:t>Gating Verification &amp; Specificity Results</a:t>
            </a:r>
          </a:p>
          <a:p>
            <a:pPr>
              <a:spcBef>
                <a:spcPts val="600"/>
              </a:spcBef>
              <a:defRPr sz="1100" b="1">
                <a:solidFill>
                  <a:srgbClr val="059669"/>
                </a:solidFill>
              </a:defRPr>
            </a:pPr>
            <a:r>
              <a:rPr sz="1600"/>
              <a:t>• Real Lymphoma Slides (N=374):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sz="1200"/>
              <a:t>   374 / 374 PASSED (100.0% Sensitivity)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All genuine biopsy specimens across CLL, FL, and MCL passed the gating engine seamlessly.</a:t>
            </a:r>
          </a:p>
          <a:p>
            <a:pPr>
              <a:spcBef>
                <a:spcPts val="600"/>
              </a:spcBef>
              <a:defRPr sz="1100" b="1">
                <a:solidFill>
                  <a:srgbClr val="E11D48"/>
                </a:solidFill>
              </a:defRPr>
            </a:pPr>
            <a:r>
              <a:rPr sz="1600"/>
              <a:t>• Natural Scenery / Food (Ice Cream):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sz="1200"/>
              <a:t>   REJECTED (100.0% Specificity)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Identified 29.5% outdoor daylight/foliage colors -&gt; Promptly rejected as 'Unable to Analyze Image'.</a:t>
            </a:r>
          </a:p>
          <a:p>
            <a:pPr>
              <a:spcBef>
                <a:spcPts val="600"/>
              </a:spcBef>
              <a:defRPr sz="1100" b="1">
                <a:solidFill>
                  <a:srgbClr val="E11D48"/>
                </a:solidFill>
              </a:defRPr>
            </a:pPr>
            <a:r>
              <a:rPr sz="1600"/>
              <a:t>• Everyday Objects / Faces / Cars: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sz="1200"/>
              <a:t>   REJECTED (100.0% Specificity)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Failed microscopic edge density and H&amp;E stain chromaticity tests.</a:t>
            </a:r>
          </a:p>
          <a:p>
            <a:pPr>
              <a:spcBef>
                <a:spcPts val="600"/>
              </a:spcBef>
              <a:defRPr sz="1100" b="1">
                <a:solidFill>
                  <a:srgbClr val="0369A1"/>
                </a:solidFill>
              </a:defRPr>
            </a:pPr>
            <a:r>
              <a:rPr sz="1600"/>
              <a:t>• Clinical Safety Impact:</a:t>
            </a:r>
          </a:p>
          <a:p>
            <a:pPr>
              <a:defRPr sz="1000" b="1">
                <a:solidFill>
                  <a:srgbClr val="0F172A"/>
                </a:solidFill>
              </a:defRPr>
            </a:pPr>
            <a:r>
              <a:rPr sz="1200"/>
              <a:t>   Zero Hallucinated Diagnoses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rPr sz="1100"/>
              <a:t>   Guarantees that non-medical images are never falsely assigned a cancer subtype.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MAJOR PROJECT EVALUATION • PHASE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Outcome 1: Positive Lymphoma Diagnosis &amp; Grad-CAM++ Explainability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Positive Diagnostic Output Structure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Example Diagnostic Output (Live Prediction):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Outcome Status: LYMPHOMA DETECTED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Predicted Subtype: Follicular Lymphoma (FL)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Model Confidence: 94.32% (Above tau = 0.80)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3-Class Probabilities: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  - CLL (Small Lymphocytic):  2.14%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  - FL (Follicular Lymphoma): 94.32%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  - MCL (Mantle Cell):        3.54%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Pathological Hallmark: Closely spaced neoplastic follicles composed of centrocytes with cleaved nuclei and centroblasts.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69A1"/>
                </a:solidFill>
              </a:defRPr>
            </a:pPr>
            <a:r>
              <a:t>Grad-CAM++ Visual Saliency Attributions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• Layer Hooking: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Grad-CAM++ is hooked directly onto the final CBAM module of Stage 4 (cbam4).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• High-Order Derivatives: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Computes positive partial derivatives of class score Y^c with respect to feature maps A^k, capturing multiple cell instances.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• Thermal Heatmap Overlay: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Alpha-blended jet colormap (alpha=0.45) highlights neoplastic follicle centers and nuclear clusters in red/orange.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• Clinical Trust: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   Enables reviewing pathologists to visually audit why the AI model identified CLL, FL, or MCL based on cellular morphology.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/>
              <a:t>Two-Stage Gated Rejection: Handling Uncertain &amp; Invalid Inputs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rPr sz="1600" dirty="0"/>
              <a:t>Outcome 2: Sub-Threshold Rejection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 dirty="0"/>
              <a:t>• Trigger Condition: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   Valid histological slide, but maximum class confidence &lt; tau (0.80).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 dirty="0"/>
              <a:t>• System Output: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   'NO LYMPHOMA DETECTED / NOT CLASSIFIED AS LYMPHOMA'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 dirty="0"/>
              <a:t>• Clinical Explanation: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   'The highest prediction confidence is below the screening threshold (80%). The model did not find sufficient evidence to classify as CLL, FL, or MCL.'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 dirty="0"/>
              <a:t>• Safety Principle: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   Prevents forced classification on non-neoplastic tissue or ambiguous borderline slides.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rPr sz="1600" dirty="0"/>
              <a:t>Outcome 3: Non-Histological Gating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 dirty="0"/>
              <a:t>• Trigger Condition: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   Uploaded image fails H&amp;E stain gamut or microscopic cellular texture gating.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 dirty="0"/>
              <a:t>• System Output: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   'UNABLE TO ANALYZE IMAGE'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 dirty="0"/>
              <a:t>• Clinical Explanation: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   'Non-histological image detected: The image contains natural environmental colors or lacks microscopic cell structures. Please upload a valid H&amp;E biopsy slide.'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sz="1600" dirty="0"/>
              <a:t>• Medical Disclaimer: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 dirty="0"/>
              <a:t>   The system never claims a patient is 'cancer-free'; it accurately reports AI screening limitations.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1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 dirty="0"/>
              <a:t>User Interface Development &amp; Navigation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</a:defRPr>
            </a:pPr>
            <a:r>
              <a:rPr sz="1600"/>
              <a:t>Diagnostic Slide Studio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Interactive drag-and-drop slide upload, real-time threshold slider (50%-95%), 'Keep Test Private' toggle, dual original/overlay view, and dynamic Recharts probability graphs.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46304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476695" y="1600200"/>
            <a:ext cx="48463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rPr sz="1600"/>
              <a:t>Performance Dashboard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Comprehensive empirical metrics dashboard displaying benchmark comparison tables, ablation gains, ROC-AUC curves, and confusion matrix.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846320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rPr sz="1600"/>
              <a:t>Case Audit History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Searchable, filterable audit log with role-based visibility badges ('Public', 'Private', 'Hidden by Admin') and 1-click ReportLab PDF summary downloads.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3977639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6476695" y="4114800"/>
            <a:ext cx="484632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rPr sz="1600"/>
              <a:t>Gemini AI Pathology Chat</a:t>
            </a:r>
          </a:p>
          <a:p>
            <a:pPr>
              <a:spcBef>
                <a:spcPts val="600"/>
              </a:spcBef>
              <a:defRPr sz="1050">
                <a:solidFill>
                  <a:srgbClr val="1E293B"/>
                </a:solidFill>
              </a:defRPr>
            </a:pPr>
            <a:r>
              <a:rPr sz="1200"/>
              <a:t>Real-time conversational clinical assistant powered by Gemini 1.5 Flash API with custom prompt engineering and fallback knowledge base.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2800"/>
              <a:t>Authentication &amp; Role-Based Access Control (RBAC)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2946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369A1"/>
                </a:solidFill>
              </a:defRPr>
            </a:pPr>
            <a:r>
              <a:t>1. Standard Investigator / User Role</a:t>
            </a:r>
          </a:p>
          <a:p>
            <a:pPr>
              <a:spcBef>
                <a:spcPts val="600"/>
              </a:spcBef>
              <a:defRPr sz="1100" b="1">
                <a:solidFill>
                  <a:srgbClr val="0284C7"/>
                </a:solidFill>
              </a:defRPr>
            </a:pPr>
            <a:r>
              <a:rPr sz="1400"/>
              <a:t>✓ Account Registration &amp; Login: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Create account with email and password, receiving signed JWT access token.</a:t>
            </a:r>
          </a:p>
          <a:p>
            <a:pPr>
              <a:spcBef>
                <a:spcPts val="600"/>
              </a:spcBef>
              <a:defRPr sz="1100" b="1">
                <a:solidFill>
                  <a:srgbClr val="0284C7"/>
                </a:solidFill>
              </a:defRPr>
            </a:pPr>
            <a:r>
              <a:rPr sz="1400"/>
              <a:t>✓ Biopsy Slide Analysis: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Execute single or batch diagnostic inference and view attention maps.</a:t>
            </a:r>
          </a:p>
          <a:p>
            <a:pPr>
              <a:spcBef>
                <a:spcPts val="600"/>
              </a:spcBef>
              <a:defRPr sz="1100" b="1">
                <a:solidFill>
                  <a:srgbClr val="0284C7"/>
                </a:solidFill>
              </a:defRPr>
            </a:pPr>
            <a:r>
              <a:rPr sz="1400"/>
              <a:t>✓ Community History Access: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View public historical results with accuracy and subtype details (read-only; cannot modify other users' records).</a:t>
            </a:r>
          </a:p>
          <a:p>
            <a:pPr>
              <a:spcBef>
                <a:spcPts val="600"/>
              </a:spcBef>
              <a:defRPr sz="1100" b="1">
                <a:solidFill>
                  <a:srgbClr val="0284C7"/>
                </a:solidFill>
              </a:defRPr>
            </a:pPr>
            <a:r>
              <a:rPr sz="1400"/>
              <a:t>✓ Personal Privacy Controls: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View personal test logs in 'My Personal Tests' tab; toggle 'Keep Private' so tests are visible only to the owner and Admin.</a:t>
            </a:r>
          </a:p>
          <a:p>
            <a:pPr>
              <a:spcBef>
                <a:spcPts val="600"/>
              </a:spcBef>
              <a:defRPr sz="1100" b="1">
                <a:solidFill>
                  <a:srgbClr val="0284C7"/>
                </a:solidFill>
              </a:defRPr>
            </a:pPr>
            <a:r>
              <a:rPr sz="1400"/>
              <a:t>✓ Self-Record Management: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Delete own test records when desired.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DA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2777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2. Administrator Role (admin@lymphoma.ai)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rPr sz="1400"/>
              <a:t>✓ Full Audit Trail Access: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View all public, private, and hidden tests across all users.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rPr sz="1400"/>
              <a:t>✓ Hide / Unhide Without Deleting: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Toggle 'is_hidden_by_admin' to hide specific results from general users while preserving records for research.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rPr sz="1400"/>
              <a:t>✓ Record &amp; Log Deletion: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Delete any test record or clear all history logs in one click.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rPr sz="1400"/>
              <a:t>✓ System Configuration: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Adjust the global confidence rejection threshold dynamically via Admin Console.</a:t>
            </a:r>
          </a:p>
          <a:p>
            <a:pPr>
              <a:spcBef>
                <a:spcPts val="600"/>
              </a:spcBef>
              <a:defRPr sz="1100" b="1">
                <a:solidFill>
                  <a:srgbClr val="0F172A"/>
                </a:solidFill>
              </a:defRPr>
            </a:pPr>
            <a:r>
              <a:rPr sz="1400"/>
              <a:t>✓ Automated Seeding: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100"/>
              <a:t>   Default administrator account (Admin@123) auto-seeded on system startup.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3200" dirty="0"/>
              <a:t>Database Schema &amp; Entity-Relationship Design 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3118104" cy="1828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369A1"/>
                </a:solidFill>
              </a:defRPr>
            </a:pPr>
            <a:r>
              <a:t>Entity 1: users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id (INTEGER, Primary Key, Auto-Inc)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full_name (VARCHAR 128)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email (VARCHAR 255, Unique, Indexed)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hashed_password (VARCHAR 255, Bcrypt)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role (VARCHAR 32, 'USER' | 'ADMIN')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is_active (BOOLEAN, Default True)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created_at, last_login (DATETIME)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4526280" y="1645920"/>
            <a:ext cx="3118104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Entity 2: prediction_records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id (INTEGER, Primary Key, Auto-Inc)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case_id (VARCHAR 64, Unique, Indexed)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user_id (INTEGER, ForeignKey -&gt; users.id)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file_name, file_path (VARCHAR 255/512)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outcome ('LYMPHOMA_DETECTED' | 'NO_LYMPHOMA...')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predicted_subtype, confidence (FLOAT)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prob_cll, prob_fl, prob_mcl (FLOAT)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threshold_used, rejection_reason (TEXT)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heatmap_path, report_path (VARCHAR 512)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is_hidden_by_admin, is_private (BOOLEAN)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463040"/>
            <a:ext cx="33375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8211312" y="1645920"/>
            <a:ext cx="311810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Entity 3: feedback_records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id (INTEGER, Primary Key, Auto-Inc)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prediction_id (INTEGER, FK -&gt; prediction_records.id)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review_status ('Verified Correct' | 'Needs IHC')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notes (TEXT, Pathologist commentary)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reviewed_by (VARCHAR 128)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100"/>
              <a:t>• created_at (DATETIME)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4000"/>
              <a:t>Full-Stack System Integration &amp; Request Lifecycle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841248" y="1572768"/>
            <a:ext cx="229514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200"/>
              <a:t>1. Client Upload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400"/>
              <a:t>User uploads slide via React SPA; sets threshold slider &amp; privacy toggle.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46304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3575304" y="1572768"/>
            <a:ext cx="229514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369A1"/>
                </a:solidFill>
              </a:defRPr>
            </a:pPr>
            <a:r>
              <a:rPr sz="1200"/>
              <a:t>2. REST API Request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400"/>
              <a:t>FastAPI receives multipart/form-data with JWT authorization header.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46304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6309360" y="1572768"/>
            <a:ext cx="229514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rPr sz="1200"/>
              <a:t>3. Pre-Inference Gating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400"/>
              <a:t>ImageValidator evaluates H&amp;E stain profile and gradient edge density.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463040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9043416" y="1572768"/>
            <a:ext cx="2295144" cy="1190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rPr sz="1200"/>
              <a:t>4. GPU Inference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400"/>
              <a:t>PyTorch AttentionResNet50_CBAM executes forward pass on CUDA cores.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841248" y="4087368"/>
            <a:ext cx="229514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rPr sz="1200"/>
              <a:t>5. Rejection Check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400"/>
              <a:t>Two-stage screening evaluates tau=0.80 threshold and generates Grad-CAM++.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65576" y="3977639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3575304" y="4087368"/>
            <a:ext cx="229514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rPr sz="1200"/>
              <a:t>6. Database Persist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400"/>
              <a:t>SQLAlchemy session commits prediction record, privacy state, and URLs.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3977639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6309360" y="4087368"/>
            <a:ext cx="229514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rPr sz="1200"/>
              <a:t>7. PDF Generation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400"/>
              <a:t>ReportLab compiles clinical diagnostic summary report with metrics.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3977639"/>
            <a:ext cx="25146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9043416" y="4087368"/>
            <a:ext cx="2295144" cy="974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rPr sz="1200"/>
              <a:t>8. Reactive UI Update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rPr sz="1400"/>
              <a:t>React updates state, renders probability charts, and displays heatmap.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3600"/>
              <a:t>Live Working Prototype Demonstration Protocol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48463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rPr sz="1400"/>
              <a:t>Demo 1: Positive Lymphoma Classification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Upload genuine H&amp;E lymphoma slide (CLL / FL / MCL).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Observe sub-second GPU inference.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Display 'Lymphoma Detected', 80%+ confidence, 3-class distribution, and Grad-CAM++ thermal overlay.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Download PDF clinical summary 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463040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6476695" y="1600200"/>
            <a:ext cx="484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11D48"/>
                </a:solidFill>
              </a:defRPr>
            </a:pPr>
            <a:r>
              <a:rPr sz="1400"/>
              <a:t>Demo 2: Input Rejection (Non-Histology)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Upload non-histology image (e.g. ice cream or car).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Observe instant slide gating rejection.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Display 'Unable to Analyze Image — Non-histological image detected'.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Zero false-positive classification generated.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84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rPr sz="1400"/>
              <a:t>Demo 3: Sub-Threshold Screening Guard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Set threshold slider to 90% and upload borderline slide.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Confidence &lt; 90% triggers screening rejection.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Display 'No Lymphoma Detected — Sub-threshold confidence'.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Prevents forced subtype assignment.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9535" y="3977639"/>
            <a:ext cx="51206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2" name="TextBox 11"/>
          <p:cNvSpPr txBox="1"/>
          <p:nvPr/>
        </p:nvSpPr>
        <p:spPr>
          <a:xfrm>
            <a:off x="6476695" y="4114800"/>
            <a:ext cx="4846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rPr sz="1400"/>
              <a:t>Demo 4: Role-Based Privacy &amp; Chatbot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Toggle 'Keep Private' on test case in Diagnostic Studio.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Verify test is hidden from other users in History.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Login as Admin (admin@lymphoma.ai) and verify full oversight.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rPr sz="1200"/>
              <a:t>• Ask Gemini AI assistant real-time pathology questions.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3200"/>
              <a:t>Comprehensive Results &amp; Scientific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rPr sz="1600"/>
              <a:t>Key Scientific Discoveries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600"/>
              <a:t>• Attention Saliency: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CBAM attention modules boost Macro F1 by +0.0701 over baseline ResNet-50 by recalibrating nuclear chromatin features.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600"/>
              <a:t>• Stain Robustness: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Stain-aware color jittering enables the network to maintain 85.96% test accuracy despite multi-center stain variations.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600"/>
              <a:t>• Screening Safety: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The calibrated 80% threshold and 3-tier slide gating eliminate 100% of out-of-distribution false-positive hallucinations.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369A1"/>
                </a:solidFill>
              </a:defRPr>
            </a:pPr>
            <a:r>
              <a:rPr sz="1600"/>
              <a:t>• Subtype Discrimination: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CLL achieves highest sensitivity (94.12%), while FL and MCL show minor morphological overlap due to shared cleaved centrocytes.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rPr sz="1600"/>
              <a:t>Validated System Performance Metrics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rPr sz="1400"/>
              <a:t>• Overall Test Accuracy: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85.96% (N = 57 untouched test slides)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rPr sz="1400"/>
              <a:t>• Macro Precision / Recall: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Precision: 0.8647 | Recall: 0.8596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rPr sz="1400"/>
              <a:t>• Macro F1-Score: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0.8568 (Subtype balanced score)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rPr sz="1400"/>
              <a:t>• ROC-AUC Score: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0.9401 (Multi-class One-vs-Rest AUC)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rPr sz="1400"/>
              <a:t>• Ablation Improvement: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+7.01% accuracy gain over baseline ResNet-50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rPr sz="1400"/>
              <a:t>• Slide Gating Sensitivity: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100.0% (374/374 real lymphoma slides passed)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rPr sz="1400"/>
              <a:t>• Slide Gating Specificity: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100.0% (Non-histology images strictly rejected)</a:t>
            </a:r>
          </a:p>
          <a:p>
            <a:pPr>
              <a:spcBef>
                <a:spcPts val="500"/>
              </a:spcBef>
              <a:defRPr sz="1050" b="1">
                <a:solidFill>
                  <a:srgbClr val="0F172A"/>
                </a:solidFill>
              </a:defRPr>
            </a:pPr>
            <a:r>
              <a:rPr sz="1400"/>
              <a:t>• GPU Inference Latency: 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rPr sz="1200"/>
              <a:t>   ~85 milliseconds per slide on RTX 4050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640080"/>
            <a:ext cx="1069848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rPr sz="4000"/>
              <a:t>System Implementation &amp; Deliverables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1. Dataset Curation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374 high-res biopsy slides across CLL, FL, MCL partitioned into 70/15/15 splits.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822960" y="249631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2. Preprocessing Pipeline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Bilinear downsampling, stain-aware color jittering, and Z-score normalization.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3. Residual Backbone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ResNet-50 50-layer bottleneck residual architecture avoiding vanishing gradients.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4340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2" name="TextBox 11"/>
          <p:cNvSpPr txBox="1"/>
          <p:nvPr/>
        </p:nvSpPr>
        <p:spPr>
          <a:xfrm>
            <a:off x="822960" y="441655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4. CBAM Attention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Channel and Spatial Attention blocks integrated at Stages 3 &amp; 4 with dual pooling.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822960" y="537667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5. Model Training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Trained on NVIDIA RTX 4050 GPU using AdamW and Cosine Annealing over 25 epochs.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6552" y="146304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6" name="TextBox 15"/>
          <p:cNvSpPr txBox="1"/>
          <p:nvPr/>
        </p:nvSpPr>
        <p:spPr>
          <a:xfrm>
            <a:off x="4507992" y="1536192"/>
            <a:ext cx="3154679" cy="82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6. 8-Model Benchmarking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Evaluated ResNet50, DenseNet121, EfficientNet-B0, SimpleCNN, and Ablation models.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16552" y="242316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8" name="TextBox 17"/>
          <p:cNvSpPr txBox="1"/>
          <p:nvPr/>
        </p:nvSpPr>
        <p:spPr>
          <a:xfrm>
            <a:off x="4507992" y="249631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7. Histopathology Gating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H&amp;E stain gamut and Sobel edge density filtering rejecting non-histological images.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338328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4507992" y="345643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8. Two-Stage Screening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Calibrated 80% confidence threshold preventing forced argmax misclassifications.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434340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2" name="TextBox 21"/>
          <p:cNvSpPr txBox="1"/>
          <p:nvPr/>
        </p:nvSpPr>
        <p:spPr>
          <a:xfrm>
            <a:off x="4507992" y="441655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9. Explainability (XAI)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Grad-CAM++ saliency thermal overlays hooked onto Stage 4 CBAM module.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530352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4507992" y="537667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10. Automated PDF Reports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Clinical summary PDF report generation via ReportLab with morphology commentary.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01584" y="146304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TextBox 25"/>
          <p:cNvSpPr txBox="1"/>
          <p:nvPr/>
        </p:nvSpPr>
        <p:spPr>
          <a:xfrm>
            <a:off x="8193024" y="153619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11. FastAPI REST Backend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High-performance asynchronous backend with 12+ endpoints and OpenAPI documentation.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01584" y="242316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8" name="TextBox 27"/>
          <p:cNvSpPr txBox="1"/>
          <p:nvPr/>
        </p:nvSpPr>
        <p:spPr>
          <a:xfrm>
            <a:off x="8193024" y="249631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12. SQLite Relational DB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SQLAlchemy ORM schema with users, prediction_records, and feedback_records.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4" y="338328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0" name="TextBox 29"/>
          <p:cNvSpPr txBox="1"/>
          <p:nvPr/>
        </p:nvSpPr>
        <p:spPr>
          <a:xfrm>
            <a:off x="8193024" y="345643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13. JWT &amp; RBAC Auth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Secure bcrypt hashing, bearer token authentication, and admin visibility controls.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01584" y="434340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TextBox 31"/>
          <p:cNvSpPr txBox="1"/>
          <p:nvPr/>
        </p:nvSpPr>
        <p:spPr>
          <a:xfrm>
            <a:off x="8193024" y="441655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14. React 18 SPA Frontend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Responsive clinical user interface built with Vite, Tailwind CSS, and Recharts.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1584" y="5303520"/>
            <a:ext cx="333756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TextBox 33"/>
          <p:cNvSpPr txBox="1"/>
          <p:nvPr/>
        </p:nvSpPr>
        <p:spPr>
          <a:xfrm>
            <a:off x="8193024" y="5376672"/>
            <a:ext cx="3154679" cy="63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rPr sz="1050"/>
              <a:t>✓ 15. Gemini AI Assistant</a:t>
            </a:r>
          </a:p>
          <a:p>
            <a:pPr>
              <a:spcBef>
                <a:spcPts val="100"/>
              </a:spcBef>
              <a:defRPr sz="850">
                <a:solidFill>
                  <a:srgbClr val="64748B"/>
                </a:solidFill>
              </a:defRPr>
            </a:pPr>
            <a:r>
              <a:rPr sz="1200"/>
              <a:t>Google Gemini 1.5 Flash API integration for interactive pathology consultation.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F67C0B60-9773-094B-5A49-3BA1C195CB83}"/>
              </a:ext>
            </a:extLst>
          </p:cNvPr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C2769F-7DBC-F382-10CB-8A79A9C1C54C}"/>
              </a:ext>
            </a:extLst>
          </p:cNvPr>
          <p:cNvSpPr/>
          <p:nvPr/>
        </p:nvSpPr>
        <p:spPr>
          <a:xfrm>
            <a:off x="731520" y="11887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E8B7C92F-3DAC-376E-E9E4-3C1C988634BD}"/>
              </a:ext>
            </a:extLst>
          </p:cNvPr>
          <p:cNvSpPr/>
          <p:nvPr/>
        </p:nvSpPr>
        <p:spPr>
          <a:xfrm>
            <a:off x="731520" y="1417320"/>
            <a:ext cx="5193792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48B0EE-75B0-8EEB-8D01-E4991DA8FD61}"/>
              </a:ext>
            </a:extLst>
          </p:cNvPr>
          <p:cNvSpPr txBox="1"/>
          <p:nvPr/>
        </p:nvSpPr>
        <p:spPr>
          <a:xfrm>
            <a:off x="932688" y="1618488"/>
            <a:ext cx="4791455" cy="4626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0F172A"/>
                </a:solidFill>
              </a:defRPr>
            </a:pPr>
            <a:r>
              <a:t>1. Conclusion</a:t>
            </a:r>
          </a:p>
          <a:p>
            <a:pPr>
              <a:spcBef>
                <a:spcPts val="900"/>
              </a:spcBef>
              <a:defRPr sz="1200" b="1">
                <a:solidFill>
                  <a:srgbClr val="0369A1"/>
                </a:solidFill>
              </a:defRPr>
            </a:pPr>
            <a:r>
              <a:t>• Engineering Success: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Successfully developed and deployed an Attention-Augmented Residual Deep Learning framework specialized for 3-class Malignant Lymphoma classification.</a:t>
            </a:r>
          </a:p>
          <a:p>
            <a:pPr>
              <a:spcBef>
                <a:spcPts val="900"/>
              </a:spcBef>
              <a:defRPr sz="1200" b="1">
                <a:solidFill>
                  <a:srgbClr val="0369A1"/>
                </a:solidFill>
              </a:defRPr>
            </a:pPr>
            <a:r>
              <a:t>• Empirical Performance: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Achieved 85.96% test accuracy and 0.9401 ROC-AUC on CLL, FL, and MCL subtypes on an untouched independent test set.</a:t>
            </a:r>
          </a:p>
          <a:p>
            <a:pPr>
              <a:spcBef>
                <a:spcPts val="900"/>
              </a:spcBef>
              <a:defRPr sz="1200" b="1">
                <a:solidFill>
                  <a:srgbClr val="0369A1"/>
                </a:solidFill>
              </a:defRPr>
            </a:pPr>
            <a:r>
              <a:t>• Attention Augmentation: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Demonstrated that integrating CBAM channel and spatial attention provides a +7.01% accuracy gain over baseline ResNet-50 by highlighting malignant nuclear chromatin.</a:t>
            </a:r>
          </a:p>
          <a:p>
            <a:pPr>
              <a:spcBef>
                <a:spcPts val="900"/>
              </a:spcBef>
              <a:defRPr sz="1200" b="1">
                <a:solidFill>
                  <a:srgbClr val="0369A1"/>
                </a:solidFill>
              </a:defRPr>
            </a:pPr>
            <a:r>
              <a:t>• Clinical Safety &amp; Gating: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Established safety guards using a 3-tier slide gating engine and a two-stage screening threshold (tau = 0.80) that completely eliminates false-positive hallucinations on non-slide inputs.</a:t>
            </a:r>
          </a:p>
          <a:p>
            <a:pPr>
              <a:spcBef>
                <a:spcPts val="900"/>
              </a:spcBef>
              <a:defRPr sz="1200" b="1">
                <a:solidFill>
                  <a:srgbClr val="0369A1"/>
                </a:solidFill>
              </a:defRPr>
            </a:pPr>
            <a:r>
              <a:t>• Full-Stack Prototype: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Delivered an operational web application with React 18, FastAPI, SQLite database, Role-Based Access Control, automated PDF reports, and an AI pathology assistant.</a:t>
            </a:r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41B4E1EB-FE50-3BD3-C7EC-BDB5878DA355}"/>
              </a:ext>
            </a:extLst>
          </p:cNvPr>
          <p:cNvSpPr/>
          <p:nvPr/>
        </p:nvSpPr>
        <p:spPr>
          <a:xfrm>
            <a:off x="6263640" y="1417320"/>
            <a:ext cx="5193792" cy="50292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E3A2F5-267E-8616-0FA5-68CD4584B029}"/>
              </a:ext>
            </a:extLst>
          </p:cNvPr>
          <p:cNvSpPr txBox="1"/>
          <p:nvPr/>
        </p:nvSpPr>
        <p:spPr>
          <a:xfrm>
            <a:off x="6464807" y="1618488"/>
            <a:ext cx="4791455" cy="46268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059669"/>
                </a:solidFill>
              </a:defRPr>
            </a:pPr>
            <a:r>
              <a:t>2. Future Scope</a:t>
            </a:r>
          </a:p>
          <a:p>
            <a:pPr>
              <a:spcBef>
                <a:spcPts val="900"/>
              </a:spcBef>
              <a:defRPr sz="1200" b="1">
                <a:solidFill>
                  <a:srgbClr val="059669"/>
                </a:solidFill>
              </a:defRPr>
            </a:pPr>
            <a:r>
              <a:t>• Gigapixel Whole Slide Imaging (WSI):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Extend the framework to process entire surgical gigapixel Whole Slide Images using multi-scale patch tiling and Multiple Instance Learning (MIL) architectures.</a:t>
            </a:r>
          </a:p>
          <a:p>
            <a:pPr>
              <a:spcBef>
                <a:spcPts val="900"/>
              </a:spcBef>
              <a:defRPr sz="1200" b="1">
                <a:solidFill>
                  <a:srgbClr val="059669"/>
                </a:solidFill>
              </a:defRPr>
            </a:pPr>
            <a:r>
              <a:t>• Advanced Stain Normalization: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Incorporate optical density decomposition algorithms (Macenko / Vahadane) to standardize stain variations across international pathology laboratories.</a:t>
            </a:r>
          </a:p>
          <a:p>
            <a:pPr>
              <a:spcBef>
                <a:spcPts val="900"/>
              </a:spcBef>
              <a:defRPr sz="1200" b="1">
                <a:solidFill>
                  <a:srgbClr val="059669"/>
                </a:solidFill>
              </a:defRPr>
            </a:pPr>
            <a:r>
              <a:t>• Multi-Center Cohort Validation: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Validate the attention residual architecture across diverse external datasets (e.g. TCGA, Stanford digital pathology archives) to evaluate broader generalizability.</a:t>
            </a:r>
          </a:p>
          <a:p>
            <a:pPr>
              <a:spcBef>
                <a:spcPts val="900"/>
              </a:spcBef>
              <a:defRPr sz="1200" b="1">
                <a:solidFill>
                  <a:srgbClr val="059669"/>
                </a:solidFill>
              </a:defRPr>
            </a:pPr>
            <a:r>
              <a:t>• Expanded Lymphoma Subtyping: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Broaden classification categories to include additional B-cell and T-cell lymphoid malignancies (e.g. Diffuse Large B-Cell Lymphoma, Marginal Zone Lymphoma, Burkitt Lymphoma).</a:t>
            </a:r>
          </a:p>
          <a:p>
            <a:pPr>
              <a:spcBef>
                <a:spcPts val="900"/>
              </a:spcBef>
              <a:defRPr sz="1200" b="1">
                <a:solidFill>
                  <a:srgbClr val="059669"/>
                </a:solidFill>
              </a:defRPr>
            </a:pPr>
            <a:r>
              <a:t>• Clinical Decision Support Integration: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  Integrate into hospital Laboratory Information Systems (LIS) and digital microscope workflows for assistive real-time secondary screening.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5657</Words>
  <Application>Microsoft Office PowerPoint</Application>
  <PresentationFormat>Widescreen</PresentationFormat>
  <Paragraphs>534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likhitharyad17@outlook.com</cp:lastModifiedBy>
  <cp:revision>3</cp:revision>
  <dcterms:created xsi:type="dcterms:W3CDTF">2013-01-27T09:14:16Z</dcterms:created>
  <dcterms:modified xsi:type="dcterms:W3CDTF">2026-09-03T09:37:48Z</dcterms:modified>
  <cp:category/>
</cp:coreProperties>
</file>